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389120"/>
            <a:ext cx="8732520" cy="7543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IA POKÉMON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BFF"/>
                </a:solidFill>
                <a:latin typeface="Calibri"/>
              </a:rPr>
              <a:t>Sistema de Combate con Reinforcement Learning y Big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6858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Trabajo de Fin de Máster  ·  Big Data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Alumno: Aleix Tallet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53128"/>
            <a:ext cx="11887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4453128"/>
            <a:ext cx="118872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3664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Stable-Baselines3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4453128"/>
            <a:ext cx="11887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Gymnasium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4453128"/>
            <a:ext cx="11887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14416" y="4453128"/>
            <a:ext cx="11887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453128"/>
            <a:ext cx="118872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453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54864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60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Motivación y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161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¿Por qué Pokémon? ¿Qué queremos lograr?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698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63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Pipeline ETL &amp; 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190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PokeAPI → SQLite → Análisis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5727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65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El Entorno Gymnasium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219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PokemonEnv, observación 28-dim, 4 acciones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756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468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Algoritmo 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24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Proximal Policy Optimization, red neuronal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786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7180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971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Función de Recompensa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2278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15 componentes en 3 niveles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0815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747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Self-Play AlphaZero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7307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Pool de oponentes, Elo, 5 generaciones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844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776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77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Dashboard 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233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Arena interactiva, modo Desafío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0873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8056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480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Resultados &amp; Conclusiones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7365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Métricas, modelos, trabajo futuro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5902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E55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MOTIVACIÓN Y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Pokémon es un juego de combate POR TURNOS con 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7393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de 1.000 especies, 18 tipos y centenares de movimientos.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El espacio de estados es ENORME y las reglas de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946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(super efectivo, inmune, resistente) forman una 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compleja que los humanos tardan años en dominar.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9981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499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Objetivo: ¿puede una IA APRENDER esa lógica sola,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mediante prueba y error, sin que le programemos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9534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ninguna regla a mano?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Los 4 Objetivos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508760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508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Ingesta automatizada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1755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ETL desde PokeAPI → 150+ Pokémon en SQLite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30428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3042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23042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Entrenamiento de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2551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PPO aprende estrategias de combate reales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099815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09981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309981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Self-Play evolutivo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34670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 IA mejora enfrentándose a sí misma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895344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8953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9512" y="38953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Dashboard interactivo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41422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El usuario desafía a la IA en tiempo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Pipeline completo de extremo a extremo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" y="1280160"/>
            <a:ext cx="1115568" cy="822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PokeAPI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REST API
150+ Pokémon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0200" y="1280160"/>
            <a:ext cx="1115568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0200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ETL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etl_process.py
Limpieza &amp; carga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07208" y="1280160"/>
            <a:ext cx="111556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07208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816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SQLite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pokemon_bigdata.db
Stats, tipos,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2776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4216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4216" y="1280160"/>
            <a:ext cx="1115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4216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14216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24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PokemonEnv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Gymnasium
Obs 28-dim, Act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4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21224" y="1280160"/>
            <a:ext cx="111556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21224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1224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PPO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2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Stable-Baselines3
256×256 MlpPolicy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28232" y="1280160"/>
            <a:ext cx="111556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28232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Self-Play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5 generaciones
Elo + OpponentPool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1645919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1280160"/>
            <a:ext cx="111556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35240" y="1280160"/>
            <a:ext cx="1115568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35240" y="1362456"/>
            <a:ext cx="256032" cy="83210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13898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7848" y="138988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7848" y="1691639"/>
            <a:ext cx="786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Streamlit
Arena interactiva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514600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2487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Capa Big Data:  ETL + almacenamiento 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2514600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2487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Capa RL:        Entorno + Modelo + Self-Play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45936" y="2514600"/>
            <a:ext cx="16459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1968" y="2487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Capa Producto:  Dashboard interactivo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E78"/>
                </a:solidFill>
                <a:latin typeface="Calibri"/>
              </a:rPr>
              <a:t>Separación estricta entre capas: el entorno de entrenamiento nunca accede a Streamlit ni a la BD.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PIPELINE ETL &amp;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41148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Proceso ETL  (etl_process.py)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E  EXTRACCIÓN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37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PokeAPI v2 → /pokemon/{id}
150 Pokémon de la región Kanto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  TRANSFORMACIÓN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43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Limpieza de stats (HP, ATK, DEF, SP.ATK, SP.DEF, VEL)
Extracción de tipos, normalización de nombres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L  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749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INSERT OR REPLACE INTO pokemon_stats
Base de datos: pokemon_bigdata.db (SQLite)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3749039" cy="56692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python etl_process.py  →  ✅ 151 Pokémon cargados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914400"/>
            <a:ext cx="406908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024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Base de Datos 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417320"/>
            <a:ext cx="1737360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4538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151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837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Pokémon cargados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79" y="1417320"/>
            <a:ext cx="1737360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79" y="14538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1837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Estadísticas por Pkm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331720"/>
            <a:ext cx="1737360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3682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752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Tipos por Pokémon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2331720"/>
            <a:ext cx="1737360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79" y="23682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752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Tipos distintos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291840"/>
            <a:ext cx="3749039" cy="12344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Ejemplo de consulta SQL: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5478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SELECT name, type1, hp, attack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37490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FROM pokemon_stats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502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WHERE attack &gt;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1513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ORDER BY attack DESC;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ENTORNO DE ENTRENAMIENTO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960120"/>
            <a:ext cx="32918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051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LOOP  REINFORCEMENT 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417320"/>
            <a:ext cx="292608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0" y="141732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45389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ESTADO (obs 28-dim)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824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HP, tipos, stats, status...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039112"/>
            <a:ext cx="292608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203911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0756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ACCIÓN (0-3)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042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Qué movimiento usar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42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660904"/>
            <a:ext cx="292608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2660904"/>
            <a:ext cx="54864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RECOMPENSA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260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¿Fue buena la decisión?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6382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3282696"/>
            <a:ext cx="292608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40" y="3282696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3192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NUEVO ESTADO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478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El mundo avanza un turno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960120"/>
            <a:ext cx="24688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051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Espacio de Observación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325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28 dimensiones  ·  float32  ·  [0, 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727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• HP propio y rival (ratio)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• Tipos propios y rivales (índice)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993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• Stages de estadísticas (−6 a +6)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2037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• Estado de alteración (burn, para...)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4140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• Número de turno (normalizado)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468880"/>
            <a:ext cx="24688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5786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Espacio de Acción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Discrete(4)  →  4 movimientos posibles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0906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Acción 0 → Movimiento 1
Acción 1 → Movimiento 2
Acción 2 → Movimiento 3
Acción 3 → Movimiento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960120"/>
            <a:ext cx="2423160" cy="37490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051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TRAINING ROSTER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1325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6 Pokémon para entrenamiento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164592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1424" y="1645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Charizard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18653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Fuego/Volador  · SpAtk 109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139696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1424" y="21396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Blastoise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2359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Agua  · Def 100, SpDef 105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2633472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1424" y="2633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Venusaur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4" y="2852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Planta/Veneno  · SpAtk 100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3127248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21424" y="31272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Pikachu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1424" y="3346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Eléctrico  · Vel 90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3621024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1424" y="36210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Garchomp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21424" y="3840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Dragón/Tierra  · Atk 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4114800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21424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Alakazam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1424" y="4334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Psíquico  · SpAtk 135, Vel 120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429000"/>
            <a:ext cx="246888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547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Versión del entorno: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37673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pokemon_env_v1_obs28_act4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005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Misma seed → mismo episodio
(determinismo total garantizado)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PROXIMAL POLICY OPTIMIZATION (PPO)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41148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¿Qué es PPO?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Algoritmo de Policy Gradient de OpenAI (2017).
Estándar de la industria para RL estable y eficiente.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El Clip — la clave de PPO: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3840480" cy="6858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 = min( ratio × A ,  clip(ratio, 1−ε, 1+ε) × A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nsolas"/>
              </a:rPr>
              <a:t>ratio = π_nueva / π_vieja       ε = 0.2  (clip_range)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La política nueva NO puede desviarse más del 20% de
la política anterior en un solo update → ESTABILIDAD.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9300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GAE (Generalized Advantage Estimation):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12463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Ventaja A = 'fue mejor esta acción de lo esperado?'
γ = 0.99  ·  λ_GAE = 0.95  →  equilibrio sesgo/varianza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14400"/>
            <a:ext cx="416052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241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Arquitectura: MlpPolicy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417320"/>
            <a:ext cx="100584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4538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373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Observación (input)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544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6168" y="1417320"/>
            <a:ext cx="100584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14538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17373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Hidden layer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55448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31736" y="1417320"/>
            <a:ext cx="100584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6" y="14538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256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17373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Hidden layer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148840"/>
            <a:ext cx="192024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1762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π (Policy head)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048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Prob. de 4 acciones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2148840"/>
            <a:ext cx="1737360" cy="5029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1762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 (Value head)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4048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Valor del estado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7432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pi=[256,256]  ·  vf=[256,256]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017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Hiperparámetros de entrenamiento: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291840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3284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611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n_envs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291840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3284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2048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611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n_steps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913632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950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3e-4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2336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lr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913632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950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0.99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2336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gamma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535424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00600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0.02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48554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ent_coef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4535424"/>
            <a:ext cx="1828800" cy="5486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1M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8554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timesteps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FUNCIÓN DE RECOMPENSA — 15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NIVEL 1 ·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20700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La señal más importante — impulsa el aprendizaje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99616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+1.00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73936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Victoria en batalla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47672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terminal_win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57984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57984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945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−1.00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468880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Derrota en batalla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42616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terminal_loss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52928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889504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+0.22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163824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Noquear al rival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337560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ko_bonus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47872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547872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58444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−0.22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85876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Ser noqueado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032504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faint_penalty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42816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242816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27939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−0.20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53712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Penalización burst &lt;5T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727448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anti_burst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914400"/>
            <a:ext cx="2788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94183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NIVEL 2 · POR TURNO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120700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Se acumulan a lo largo de la batalla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1463040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1463040"/>
            <a:ext cx="640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1499616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±0.12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1773936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Diferencial de daño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1947672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damage_reward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157984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2157984"/>
            <a:ext cx="640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21945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+0.008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2468880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Por sobrevivir cada turno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2642616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survival_bonus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852928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0" y="2852928"/>
            <a:ext cx="640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2889504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+0.015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3163824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Ventaja de HP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3337560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hp_lead_bonus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547872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0" y="3547872"/>
            <a:ext cx="640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358444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+0.030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385876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Dominancia sostenida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4032504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consec_bonus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242816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0" y="4242816"/>
            <a:ext cx="64008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427939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−0.015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4553712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Penalización por stall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4727448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stall_penalty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914400"/>
            <a:ext cx="2788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36208" y="94183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NIVEL 3 · POSICIONAL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6208" y="120700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Guían la selección de movimiento y cambios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463040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0" y="146304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1499616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±0.055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1773936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Ventaja de tipos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947672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matchup_shaping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2157984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26480" y="2157984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21945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−0.075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2468880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Permanecer en mal matchup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642616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bad_stay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2852928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6480" y="2852928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2889504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−0.040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163824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Amenaza de KO inminente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3337560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temporal_risk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3547872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26480" y="3547872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358444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±0.020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3858768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Momentum (EMA daños)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4032504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momentum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4242816"/>
            <a:ext cx="27889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6480" y="4242816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63640" y="4279392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±0.090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4553712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Calidad del cambio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4727448"/>
            <a:ext cx="26060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onsolas"/>
              </a:rPr>
              <a:t>smart_switch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INFRAESTRUCTURA DE ENTRENAMIENTO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8503920" cy="3611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SubprocVecEnv  ×  8 procesos independientes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969264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1417320"/>
            <a:ext cx="969264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1417320"/>
            <a:ext cx="96926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W3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417320"/>
            <a:ext cx="96926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W4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1417320"/>
            <a:ext cx="969264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  <a:latin typeface="Calibri"/>
              </a:rPr>
              <a:t>W5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1417320"/>
            <a:ext cx="969264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W6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59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1417320"/>
            <a:ext cx="96926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W7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1417320"/>
            <a:ext cx="969264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80" y="1417320"/>
            <a:ext cx="96926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152704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W8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1828800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PokemonEnv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31720"/>
            <a:ext cx="827532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VecNormalize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26334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  <a:latin typeface="Calibri"/>
              </a:rPr>
              <a:t>Normaliza observaciones  →  media 0, desv.std.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26334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  <a:latin typeface="Calibri"/>
              </a:rPr>
              <a:t>Escala recompensas  /  desv.std. (sin restar media)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clip_obs=10.0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3044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291840"/>
            <a:ext cx="82753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3649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PPO  ·  MlpPolicy  ·  policy=[256,256]  ·  vf=[256,256]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Sin GIL de Python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SubprocVecEnv usa procesos reales,
no threads → paralelismo de verdad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Reproducibilidad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Seed 42 fija. Cada worker tiene
su propia seed (seed + rank)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Eficiencia de memoria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El sprite registry se serializa UNA
vez y se envía a cada worker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SELF-PLAY AL ESTILO ALPHAZERO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512064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Loop de Generaciones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Muestrear oponente del pool (70/30)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PPO.learn(50.000 timesteps)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042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05456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05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Guardar checkpoint gen_N.zip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712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1810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Evaluar vs todos en el pool → 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3814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85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Añadir checkpoint al pool (max=10)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050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5195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Siguiente generación (hasta 20)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914400"/>
            <a:ext cx="3246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Estrategia 70 / 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1280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70%  →  último modelo (señal fuerte)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14813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30%  →  versiones antiguas (diversidad)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171907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Evita el ciclic best-response collapse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176272"/>
            <a:ext cx="324612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22677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Sistema Elo (K=32, base=1500)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54203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R_nueva = R + K × (score − esperado)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27614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Mide objetivamente si cada generación mejora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218688"/>
            <a:ext cx="324612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310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Generaciones entrenadas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639312"/>
            <a:ext cx="512064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675887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Gen
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11480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50k
steps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4496" y="3639312"/>
            <a:ext cx="512064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3675887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Gen
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411480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50k
steps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9712" y="3639312"/>
            <a:ext cx="512064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9712" y="3675887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Gen
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411480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50k
steps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24928" y="3639312"/>
            <a:ext cx="512064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4928" y="3675887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Gen
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8" y="411480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50k
steps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0144" y="3639312"/>
            <a:ext cx="512064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0144" y="3675887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Gen
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0144" y="411480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50k
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INTERACTIVO (STREAMLIT)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416052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4160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Modo SIMULACIÓN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 IA controla ambos bandos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Selección de 6+6 Pokémon desde PokeAPI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Datos reales (stats, movimientos, tipos)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5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Sprites animados GIF con fallback 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638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Log de combate turno a turno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8503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Registro de resultados en 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914400"/>
            <a:ext cx="416052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914400"/>
            <a:ext cx="41605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0241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Modo DESAFÍO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2984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El usuario juega contra la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002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4 movimientos con colores e icono de tipo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1214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Botón 'Cambiar Pokémon' con análisis de matchup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42615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Barras de HP con transición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1638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Diálogos al estilo Game Boy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685031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Flash dorado en sprite atacante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dashboard.py  ·  ~3.900 líneas  ·  Separación estricta entrenamiento / UI  ·  motor de combate propio (battle_utils.py, battle_mechanics.py)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78808"/>
            <a:ext cx="160020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1788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Streamlit 1.x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66544" y="4178808"/>
            <a:ext cx="16002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66544" y="41788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PokeAPI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7328" y="4178808"/>
            <a:ext cx="16002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41788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CSS Animations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8112" y="4178808"/>
            <a:ext cx="16002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41788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Base64 Sprites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178808"/>
            <a:ext cx="160020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41788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SQLite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20574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Python 3.10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Lenguaje base. Tipado estático con type hints.
Paralelismo real con multiprocessing.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914400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41448" y="914400"/>
            <a:ext cx="2057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0515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Stable-Baselines3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Framework de RL sobre PyTorch.
Implementa PPO con SubprocVecEnv y VecNormalize.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2855" y="914400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62855" y="914400"/>
            <a:ext cx="20574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0515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Gymnasium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Estándar de la industria para entornos RL.
Interfaz: reset() / step() / render()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84263" y="914400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4263" y="914400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3" y="10515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SQLite + 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3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BD relacional para stats y logs de batalla.
Pandas para EDA y visualización de métricas.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32888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32888"/>
            <a:ext cx="20574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7004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90088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Dashboard web en Python puro.
Recarga automática; gestión de estado con session_state.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2532888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41448" y="2532888"/>
            <a:ext cx="20574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267004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2990088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Contenedor Debian Slim para portabilidad.
Garantiza reproducibilidad en cualquier máquina.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2855" y="2532888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62855" y="2532888"/>
            <a:ext cx="2057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267004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PyTorch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2990088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Backend de deep learning de SB3.
Otimizador Adam, autograd, cómputo GPU/CPU.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84263" y="2532888"/>
            <a:ext cx="20574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84263" y="2532888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3" y="267004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PokeAPI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3" y="2990088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REST API pública con datos de los 1000+ Pokémon.
Usada en ETL y en el dashboard en tiempo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Y MÉTRICAS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057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libri"/>
              </a:rPr>
              <a:t>~75%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Win Rate vs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56231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modelo v5</a:t>
            </a:r>
          </a:p>
        </p:txBody>
      </p:sp>
      <p:sp>
        <p:nvSpPr>
          <p:cNvPr id="8" name="Rectangle 7"/>
          <p:cNvSpPr/>
          <p:nvPr/>
        </p:nvSpPr>
        <p:spPr>
          <a:xfrm>
            <a:off x="2532888" y="960120"/>
            <a:ext cx="2057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1005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16002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Generaciones Self-Play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856231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50k steps c/u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5736" y="960120"/>
            <a:ext cx="2057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005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6002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Workers paralelos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1856231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SubprocVecEnv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8583" y="960120"/>
            <a:ext cx="2057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3" y="1005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Calibr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3" y="16002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Componentes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1856231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3 niveles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48840"/>
            <a:ext cx="5120640" cy="2606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677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Progresión de modelos entrenados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78608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578608"/>
            <a:ext cx="6400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243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87121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Baseline. Aprende a atacar.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578608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2578608"/>
            <a:ext cx="6400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6243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v3 multitipo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87121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Aprende ventajas de tipo.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46120"/>
            <a:ext cx="64008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2918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v4 con cambios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5387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Aprende a cambiar Pokémon.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246120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1800" y="3246120"/>
            <a:ext cx="64008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2918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v5 avanzada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35387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Función recompensa completa.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13631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913631"/>
            <a:ext cx="64008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95935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self_play gen1-5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06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Self-play vs versiones previas.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3913631"/>
            <a:ext cx="228600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71800" y="3913631"/>
            <a:ext cx="6400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95935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canonical_v1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206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Versión canónica de referencia.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2148840"/>
            <a:ext cx="3246120" cy="2606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22677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Comportamientos emergentes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2578608"/>
            <a:ext cx="2880360" cy="47548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0" y="26151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Gestión de tipos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28254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Prefiere movimientos SE, evita inmunes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3127248"/>
            <a:ext cx="2880360" cy="47548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31638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Cambios estratégicos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33741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Cambia al detectar mal matchup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5000" y="3675887"/>
            <a:ext cx="2880360" cy="47548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0" y="3712463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Amenaza de 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0" y="392277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Prioriza atacar cuando puede KO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4224527"/>
            <a:ext cx="2880360" cy="47548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4261103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Gestión de HP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447141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Conserva HP, busca ventaja numérica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855464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onsolas"/>
              </a:rPr>
              <a:t>Métricas monitorizadas en TensorBoard: battle/win_rate_100  ·  reward/damage  ·  reward/matchup  ·  reward/momentum  ·  reward/switch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Logros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Pipeline ETL funcional: PokeAPI →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Entorno Gymnasium propio y determinista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PPO entrenado con 1M timesteps y 8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26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Self-Play con Elo en 5 generaciones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Dashboard interactivo con modo Desafío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✓  Arquitectura modular: entrenamiento / UI separados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0789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Trabajo Futuro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463040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4630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PokeAPI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099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Usar los 1000+ Pokémon en entrenamiento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984248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98424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9842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Multi-Pokémon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2311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Equipos de 6 con cambios forzados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505456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5054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50545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RLHF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75234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Feedback humano para guiar la política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026664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02666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02666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Obs extendida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27355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Items, clima, hazards en el 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547872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5478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54787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WandB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7947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Monitorización en la nube del entrenamiento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4069079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069079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0690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15967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App pública en Streamlit Cloud / Docker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Aleix Tallet  ·  TFM Big Data &amp; Machine Learning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